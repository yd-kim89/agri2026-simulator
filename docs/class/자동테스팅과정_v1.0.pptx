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예시(AI4CEO 163케이스)와 달리 overedge는 55케이스 규모지만 동일한 방법론(Stage·Show·Classify·Fix)을 적용한다.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01168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9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· STAGING · 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63721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6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process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777240" y="3794760"/>
            <a:ext cx="106372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2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163개가 아니라 55개 — overedge(agri2026 시세마당) 매입 시뮬레이터의 QA 자동화를</a:t>
            </a:r>
            <a:endParaRPr lang="en-US" sz="22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2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안전하게 실행하고 오류를 한 번에 모으는 실전 교육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5989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9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EDITION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0" y="5989320"/>
            <a:ext cx="5470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9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overedge · agri2026 시세마당 · 2026.07.24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OUTCOME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63721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b="1" spc="-50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과정의 목적은 “테스트 실행”보다 넓다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3063240"/>
            <a:ext cx="5227168" cy="1371600"/>
          </a:xfrm>
          <a:prstGeom prst="roundRect">
            <a:avLst>
              <a:gd name="adj" fmla="val 5333"/>
            </a:avLst>
          </a:prstGeom>
          <a:solidFill>
            <a:srgbClr val="F5F5F7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331927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안전하게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3813048"/>
            <a:ext cx="458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staging에서만 mutation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187288" y="3063240"/>
            <a:ext cx="5227168" cy="1371600"/>
          </a:xfrm>
          <a:prstGeom prst="roundRect">
            <a:avLst>
              <a:gd name="adj" fmla="val 5333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6507328" y="331927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보이게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07328" y="3813048"/>
            <a:ext cx="458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headed로 케이스별 관찰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4663440"/>
            <a:ext cx="5227168" cy="1371600"/>
          </a:xfrm>
          <a:prstGeom prst="roundRect">
            <a:avLst>
              <a:gd name="adj" fmla="val 5333"/>
            </a:avLst>
          </a:prstGeom>
          <a:solidFill>
            <a:srgbClr val="F5F5F7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91947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정확하게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97280" y="5413248"/>
            <a:ext cx="458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UI·API·DB·RLS 교차 검증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187288" y="4663440"/>
            <a:ext cx="5227168" cy="1371600"/>
          </a:xfrm>
          <a:prstGeom prst="roundRect">
            <a:avLst>
              <a:gd name="adj" fmla="val 5333"/>
            </a:avLst>
          </a:prstGeom>
          <a:solidFill>
            <a:srgbClr val="F5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6507328" y="491947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한꺼번에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507328" y="5413248"/>
            <a:ext cx="4587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오류를 먼저 모은 뒤 원인별 수정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77240" y="641908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overedge · Playwright Test Process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63721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b="1" spc="-50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코드보다 “환경의 경계”를 먼저 설계한다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3108960"/>
            <a:ext cx="3362858" cy="2286000"/>
          </a:xfrm>
          <a:prstGeom prst="roundRect">
            <a:avLst>
              <a:gd name="adj" fmla="val 3200"/>
            </a:avLst>
          </a:prstGeom>
          <a:solidFill>
            <a:srgbClr val="F5F5F7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3383280"/>
            <a:ext cx="28142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3822192"/>
            <a:ext cx="281421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branch·commit SHA로 검증 대상 고정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51560" y="489204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 브랜치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14418" y="3108960"/>
            <a:ext cx="3362858" cy="2286000"/>
          </a:xfrm>
          <a:prstGeom prst="roundRect">
            <a:avLst>
              <a:gd name="adj" fmla="val 3200"/>
            </a:avLst>
          </a:prstGeom>
          <a:solidFill>
            <a:srgbClr val="F5F5F7"/>
          </a:solidFill>
          <a:ln/>
        </p:spPr>
      </p:sp>
      <p:sp>
        <p:nvSpPr>
          <p:cNvPr id="9" name="Text 7"/>
          <p:cNvSpPr/>
          <p:nvPr/>
        </p:nvSpPr>
        <p:spPr>
          <a:xfrm>
            <a:off x="4688738" y="3383280"/>
            <a:ext cx="28142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88738" y="3822192"/>
            <a:ext cx="281421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Preview에서 실제 화면 실행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88738" y="489204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commit별 URL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51597" y="3108960"/>
            <a:ext cx="3362858" cy="2286000"/>
          </a:xfrm>
          <a:prstGeom prst="roundRect">
            <a:avLst>
              <a:gd name="adj" fmla="val 3200"/>
            </a:avLst>
          </a:prstGeom>
          <a:solidFill>
            <a:srgbClr val="F5F5F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5917" y="3383280"/>
            <a:ext cx="28142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25917" y="3822192"/>
            <a:ext cx="281421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운영과 분리된 별도 Supabase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25917" y="489204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agri2026-staging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641908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overedge · Playwright Test Process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9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63721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다섯 시스템이 하나의 재현 가능한 경로를 만든다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3291840"/>
            <a:ext cx="1922617" cy="1874520"/>
          </a:xfrm>
          <a:prstGeom prst="roundRect">
            <a:avLst>
              <a:gd name="adj" fmla="val 3902"/>
            </a:avLst>
          </a:prstGeom>
          <a:solidFill>
            <a:srgbClr val="2A2A2C"/>
          </a:solidFill>
          <a:ln/>
        </p:spPr>
      </p:sp>
      <p:sp>
        <p:nvSpPr>
          <p:cNvPr id="5" name="Text 3"/>
          <p:cNvSpPr/>
          <p:nvPr/>
        </p:nvSpPr>
        <p:spPr>
          <a:xfrm>
            <a:off x="978408" y="3511296"/>
            <a:ext cx="155685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78408" y="3950208"/>
            <a:ext cx="1556857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branch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78408" y="4663440"/>
            <a:ext cx="155685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+ tests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63281" y="39319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955889" y="3291840"/>
            <a:ext cx="1922617" cy="1874520"/>
          </a:xfrm>
          <a:prstGeom prst="roundRect">
            <a:avLst>
              <a:gd name="adj" fmla="val 3902"/>
            </a:avLst>
          </a:prstGeom>
          <a:solidFill>
            <a:srgbClr val="2A2A2C"/>
          </a:solidFill>
          <a:ln/>
        </p:spPr>
      </p:sp>
      <p:sp>
        <p:nvSpPr>
          <p:cNvPr id="10" name="Text 8"/>
          <p:cNvSpPr/>
          <p:nvPr/>
        </p:nvSpPr>
        <p:spPr>
          <a:xfrm>
            <a:off x="3157057" y="3511296"/>
            <a:ext cx="155685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57057" y="3950208"/>
            <a:ext cx="1556857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Preview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157057" y="4663440"/>
            <a:ext cx="155685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build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1931" y="39319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134539" y="3291840"/>
            <a:ext cx="1922617" cy="1874520"/>
          </a:xfrm>
          <a:prstGeom prst="roundRect">
            <a:avLst>
              <a:gd name="adj" fmla="val 3902"/>
            </a:avLst>
          </a:prstGeom>
          <a:solidFill>
            <a:srgbClr val="2A2A2C"/>
          </a:solidFill>
          <a:ln/>
        </p:spPr>
      </p:sp>
      <p:sp>
        <p:nvSpPr>
          <p:cNvPr id="15" name="Text 13"/>
          <p:cNvSpPr/>
          <p:nvPr/>
        </p:nvSpPr>
        <p:spPr>
          <a:xfrm>
            <a:off x="5335707" y="3511296"/>
            <a:ext cx="155685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35707" y="3950208"/>
            <a:ext cx="1556857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staging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35707" y="4663440"/>
            <a:ext cx="155685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+ DB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20580" y="39319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313188" y="3291840"/>
            <a:ext cx="1922617" cy="1874520"/>
          </a:xfrm>
          <a:prstGeom prst="roundRect">
            <a:avLst>
              <a:gd name="adj" fmla="val 3902"/>
            </a:avLst>
          </a:prstGeom>
          <a:solidFill>
            <a:srgbClr val="2A2A2C"/>
          </a:solidFill>
          <a:ln/>
        </p:spPr>
      </p:sp>
      <p:sp>
        <p:nvSpPr>
          <p:cNvPr id="20" name="Text 18"/>
          <p:cNvSpPr/>
          <p:nvPr/>
        </p:nvSpPr>
        <p:spPr>
          <a:xfrm>
            <a:off x="7514356" y="3511296"/>
            <a:ext cx="155685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514356" y="3950208"/>
            <a:ext cx="1556857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514356" y="4663440"/>
            <a:ext cx="155685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실행·교차검증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99230" y="39319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491838" y="3291840"/>
            <a:ext cx="1922617" cy="1874520"/>
          </a:xfrm>
          <a:prstGeom prst="roundRect">
            <a:avLst>
              <a:gd name="adj" fmla="val 3902"/>
            </a:avLst>
          </a:prstGeom>
          <a:solidFill>
            <a:srgbClr val="2A2A2C"/>
          </a:solidFill>
          <a:ln/>
        </p:spPr>
      </p:sp>
      <p:sp>
        <p:nvSpPr>
          <p:cNvPr id="25" name="Text 23"/>
          <p:cNvSpPr/>
          <p:nvPr/>
        </p:nvSpPr>
        <p:spPr>
          <a:xfrm>
            <a:off x="9693006" y="3511296"/>
            <a:ext cx="155685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693006" y="3950208"/>
            <a:ext cx="1556857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93006" y="4663440"/>
            <a:ext cx="155685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video·trace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641908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overedge · Playwright Test Process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7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9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 SUPABASE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63721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staging은 쓰기 테스트의 안전 구역이다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3063240"/>
            <a:ext cx="106372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agri2026-staging — 운영 프로젝트(yabuqapajzlyasphhjuz)와 분리된 Auth·Database·RLS 환경.</a:t>
            </a:r>
            <a:endParaRPr lang="en-US" sz="19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스키마만 이관(migrations 001+002 병합), 데이터는 넣지 않는다.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77240" y="4480560"/>
            <a:ext cx="3362858" cy="1417320"/>
          </a:xfrm>
          <a:prstGeom prst="roundRect">
            <a:avLst>
              <a:gd name="adj" fmla="val 5161"/>
            </a:avLst>
          </a:prstGeom>
          <a:solidFill>
            <a:srgbClr val="2A2A2C"/>
          </a:solidFill>
          <a:ln/>
        </p:spPr>
      </p:sp>
      <p:sp>
        <p:nvSpPr>
          <p:cNvPr id="6" name="Text 4"/>
          <p:cNvSpPr/>
          <p:nvPr/>
        </p:nvSpPr>
        <p:spPr>
          <a:xfrm>
            <a:off x="1033272" y="4718304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9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운영과 분리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33272" y="5157216"/>
            <a:ext cx="29056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데이터·테스트 데이터 무접촉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14418" y="4480560"/>
            <a:ext cx="3362858" cy="1417320"/>
          </a:xfrm>
          <a:prstGeom prst="roundRect">
            <a:avLst>
              <a:gd name="adj" fmla="val 5161"/>
            </a:avLst>
          </a:prstGeom>
          <a:solidFill>
            <a:srgbClr val="2A2A2C"/>
          </a:solidFill>
          <a:ln/>
        </p:spPr>
      </p:sp>
      <p:sp>
        <p:nvSpPr>
          <p:cNvPr id="9" name="Text 7"/>
          <p:cNvSpPr/>
          <p:nvPr/>
        </p:nvSpPr>
        <p:spPr>
          <a:xfrm>
            <a:off x="4670450" y="4718304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9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 동일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70450" y="5157216"/>
            <a:ext cx="29056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익명 owner-null / 본인 행 격리 그대로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51597" y="4480560"/>
            <a:ext cx="3362858" cy="1417320"/>
          </a:xfrm>
          <a:prstGeom prst="roundRect">
            <a:avLst>
              <a:gd name="adj" fmla="val 5161"/>
            </a:avLst>
          </a:prstGeom>
          <a:solidFill>
            <a:srgbClr val="2A2A2C"/>
          </a:solidFill>
          <a:ln/>
        </p:spPr>
      </p:sp>
      <p:sp>
        <p:nvSpPr>
          <p:cNvPr id="12" name="Text 10"/>
          <p:cNvSpPr/>
          <p:nvPr/>
        </p:nvSpPr>
        <p:spPr>
          <a:xfrm>
            <a:off x="8307629" y="4718304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9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롤백 용이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307629" y="5157216"/>
            <a:ext cx="29056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통째 폐기 = 운영 영향 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641908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overedge · Playwright Test Process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PREVIEW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63721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b="1" spc="-50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Preview는 실제 화면과 staging 데이터를 연결한다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7724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29992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commit별 URL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40680" y="2999232"/>
            <a:ext cx="59737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검증한 코드 버전을 URL로 고정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463040" y="405079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전용 env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440680" y="4050792"/>
            <a:ext cx="59737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 Supabase URL·key를 production과 분리 주입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5120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63040" y="510235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보호 OFF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440680" y="5102352"/>
            <a:ext cx="59737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overedge는 배포 보호가 꺼져 Preview URL 공개 → Bypass 불필요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641908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overedge · Playwright Test Process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TEST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63721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b="1" spc="-50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시스템은 여섯 단계로 구축했다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3063240"/>
            <a:ext cx="3362858" cy="1325880"/>
          </a:xfrm>
          <a:prstGeom prst="roundRect">
            <a:avLst>
              <a:gd name="adj" fmla="val 5517"/>
            </a:avLst>
          </a:prstGeom>
          <a:solidFill>
            <a:srgbClr val="F5F5F7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" y="3282696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Inventory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33272" y="3703320"/>
            <a:ext cx="29056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v6 ↔ 코드 차이 분석·스코핑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14418" y="3063240"/>
            <a:ext cx="3362858" cy="1325880"/>
          </a:xfrm>
          <a:prstGeom prst="roundRect">
            <a:avLst>
              <a:gd name="adj" fmla="val 5517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4670450" y="3282696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Safety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70450" y="3703320"/>
            <a:ext cx="29056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staging·preview·mutation 가드 구성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51597" y="3063240"/>
            <a:ext cx="3362858" cy="1325880"/>
          </a:xfrm>
          <a:prstGeom prst="roundRect">
            <a:avLst>
              <a:gd name="adj" fmla="val 5517"/>
            </a:avLst>
          </a:prstGeom>
          <a:solidFill>
            <a:srgbClr val="F5F5F7"/>
          </a:solidFill>
          <a:ln/>
        </p:spPr>
      </p:sp>
      <p:sp>
        <p:nvSpPr>
          <p:cNvPr id="11" name="Text 9"/>
          <p:cNvSpPr/>
          <p:nvPr/>
        </p:nvSpPr>
        <p:spPr>
          <a:xfrm>
            <a:off x="8307629" y="3282696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Cases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07629" y="3703320"/>
            <a:ext cx="29056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5 + P1 9, BR-1~BR-10 규칙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4617720"/>
            <a:ext cx="3362858" cy="1325880"/>
          </a:xfrm>
          <a:prstGeom prst="roundRect">
            <a:avLst>
              <a:gd name="adj" fmla="val 5517"/>
            </a:avLst>
          </a:prstGeom>
          <a:solidFill>
            <a:srgbClr val="F5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1033272" y="4837176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Config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33272" y="5257800"/>
            <a:ext cx="29056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 read-only / staging mutation 2종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414418" y="4617720"/>
            <a:ext cx="3362858" cy="1325880"/>
          </a:xfrm>
          <a:prstGeom prst="roundRect">
            <a:avLst>
              <a:gd name="adj" fmla="val 5517"/>
            </a:avLst>
          </a:prstGeom>
          <a:solidFill>
            <a:srgbClr val="F5F5F7"/>
          </a:solidFill>
          <a:ln/>
        </p:spPr>
      </p:sp>
      <p:sp>
        <p:nvSpPr>
          <p:cNvPr id="17" name="Text 15"/>
          <p:cNvSpPr/>
          <p:nvPr/>
        </p:nvSpPr>
        <p:spPr>
          <a:xfrm>
            <a:off x="4670450" y="4837176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Execute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670450" y="5257800"/>
            <a:ext cx="29056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desktop·mobile 28 + 단위 27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51597" y="4617720"/>
            <a:ext cx="3362858" cy="1325880"/>
          </a:xfrm>
          <a:prstGeom prst="roundRect">
            <a:avLst>
              <a:gd name="adj" fmla="val 5517"/>
            </a:avLst>
          </a:prstGeom>
          <a:solidFill>
            <a:srgbClr val="F5F5F7"/>
          </a:solidFill>
          <a:ln/>
        </p:spPr>
      </p:sp>
      <p:sp>
        <p:nvSpPr>
          <p:cNvPr id="20" name="Text 18"/>
          <p:cNvSpPr/>
          <p:nvPr/>
        </p:nvSpPr>
        <p:spPr>
          <a:xfrm>
            <a:off x="8307629" y="4837176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Collect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07629" y="5257800"/>
            <a:ext cx="290565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실패 수집→분류→원인별 수정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641908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overedge · Playwright Test Process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CONFIG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63721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b="1" spc="-50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설정이 production 오염과 증거 손실을 막는다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3063240"/>
            <a:ext cx="5227168" cy="1325880"/>
          </a:xfrm>
          <a:prstGeom prst="roundRect">
            <a:avLst>
              <a:gd name="adj" fmla="val 5517"/>
            </a:avLst>
          </a:prstGeom>
          <a:solidFill>
            <a:srgbClr val="F5F5F7"/>
          </a:solidFill>
          <a:ln/>
        </p:spPr>
      </p:sp>
      <p:sp>
        <p:nvSpPr>
          <p:cNvPr id="5" name="Text 3"/>
          <p:cNvSpPr/>
          <p:nvPr/>
        </p:nvSpPr>
        <p:spPr>
          <a:xfrm>
            <a:off x="1069848" y="3282696"/>
            <a:ext cx="467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testIgnore staging-*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69848" y="3721608"/>
            <a:ext cx="467852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 config는 mutation 스펙 실행 거부 → 운영 DB 무접촉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87288" y="3063240"/>
            <a:ext cx="5227168" cy="1325880"/>
          </a:xfrm>
          <a:prstGeom prst="roundRect">
            <a:avLst>
              <a:gd name="adj" fmla="val 5517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6479896" y="3282696"/>
            <a:ext cx="467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retain-on-failure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79896" y="3721608"/>
            <a:ext cx="467852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prod: 실패 시에만 trace·screenshot·video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4617720"/>
            <a:ext cx="5227168" cy="1325880"/>
          </a:xfrm>
          <a:prstGeom prst="roundRect">
            <a:avLst>
              <a:gd name="adj" fmla="val 5517"/>
            </a:avLst>
          </a:prstGeom>
          <a:solidFill>
            <a:srgbClr val="F5F5F7"/>
          </a:solidFill>
          <a:ln/>
        </p:spPr>
      </p:sp>
      <p:sp>
        <p:nvSpPr>
          <p:cNvPr id="11" name="Text 9"/>
          <p:cNvSpPr/>
          <p:nvPr/>
        </p:nvSpPr>
        <p:spPr>
          <a:xfrm>
            <a:off x="1069848" y="4837176"/>
            <a:ext cx="467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video: 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69848" y="5276088"/>
            <a:ext cx="467852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staging: 케이스별 영상 항상 저장(교육용)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87288" y="4617720"/>
            <a:ext cx="5227168" cy="1325880"/>
          </a:xfrm>
          <a:prstGeom prst="roundRect">
            <a:avLst>
              <a:gd name="adj" fmla="val 5517"/>
            </a:avLst>
          </a:prstGeom>
          <a:solidFill>
            <a:srgbClr val="F5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6479896" y="4837176"/>
            <a:ext cx="467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baseURL = STAGING_URL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79896" y="5276088"/>
            <a:ext cx="467852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없으면 localhost — production으로 조용히 fallback 안 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641908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overedge · Playwright Test Process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9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CASES WERE TESTED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63721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화면의 성공을 API와 DB까지 따라가 확인했다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77240" y="3383280"/>
            <a:ext cx="2453564" cy="1920240"/>
          </a:xfrm>
          <a:prstGeom prst="roundRect">
            <a:avLst>
              <a:gd name="adj" fmla="val 3810"/>
            </a:avLst>
          </a:prstGeom>
          <a:solidFill>
            <a:srgbClr val="2A2A2C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3657600"/>
            <a:ext cx="19963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9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05840" y="4389120"/>
            <a:ext cx="199636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화면·메시지·상태 (role locator)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05124" y="3383280"/>
            <a:ext cx="2453564" cy="1920240"/>
          </a:xfrm>
          <a:prstGeom prst="roundRect">
            <a:avLst>
              <a:gd name="adj" fmla="val 3810"/>
            </a:avLst>
          </a:prstGeom>
          <a:solidFill>
            <a:srgbClr val="2A2A2C"/>
          </a:solidFill>
          <a:ln/>
        </p:spPr>
      </p:sp>
      <p:sp>
        <p:nvSpPr>
          <p:cNvPr id="8" name="Text 6"/>
          <p:cNvSpPr/>
          <p:nvPr/>
        </p:nvSpPr>
        <p:spPr>
          <a:xfrm>
            <a:off x="3733724" y="3657600"/>
            <a:ext cx="19963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9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733724" y="4389120"/>
            <a:ext cx="199636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status·payload·LLM 필드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33008" y="3383280"/>
            <a:ext cx="2453564" cy="1920240"/>
          </a:xfrm>
          <a:prstGeom prst="roundRect">
            <a:avLst>
              <a:gd name="adj" fmla="val 3810"/>
            </a:avLst>
          </a:prstGeom>
          <a:solidFill>
            <a:srgbClr val="2A2A2C"/>
          </a:solidFill>
          <a:ln/>
        </p:spPr>
      </p:sp>
      <p:sp>
        <p:nvSpPr>
          <p:cNvPr id="11" name="Text 9"/>
          <p:cNvSpPr/>
          <p:nvPr/>
        </p:nvSpPr>
        <p:spPr>
          <a:xfrm>
            <a:off x="6461608" y="3657600"/>
            <a:ext cx="19963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9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61608" y="4389120"/>
            <a:ext cx="199636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simulation_log INSERT·read-back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60891" y="3383280"/>
            <a:ext cx="2453564" cy="1920240"/>
          </a:xfrm>
          <a:prstGeom prst="roundRect">
            <a:avLst>
              <a:gd name="adj" fmla="val 3810"/>
            </a:avLst>
          </a:prstGeom>
          <a:solidFill>
            <a:srgbClr val="2A2A2C"/>
          </a:solidFill>
          <a:ln/>
        </p:spPr>
      </p:sp>
      <p:sp>
        <p:nvSpPr>
          <p:cNvPr id="14" name="Text 12"/>
          <p:cNvSpPr/>
          <p:nvPr/>
        </p:nvSpPr>
        <p:spPr>
          <a:xfrm>
            <a:off x="9189491" y="3657600"/>
            <a:ext cx="19963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9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89491" y="4389120"/>
            <a:ext cx="199636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익명 owner-null·본인 행 격리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641908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overedge · Playwright Test Process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REQUESTS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63721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b="1" spc="-50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요구가 테스트 전략을 결정했다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3017520"/>
            <a:ext cx="3362858" cy="1325880"/>
          </a:xfrm>
          <a:prstGeom prst="roundRect">
            <a:avLst>
              <a:gd name="adj" fmla="val 5517"/>
            </a:avLst>
          </a:prstGeom>
          <a:solidFill>
            <a:srgbClr val="F5F5F7"/>
          </a:solidFill>
          <a:ln/>
        </p:spPr>
      </p:sp>
      <p:sp>
        <p:nvSpPr>
          <p:cNvPr id="5" name="Text 3"/>
          <p:cNvSpPr/>
          <p:nvPr/>
        </p:nvSpPr>
        <p:spPr>
          <a:xfrm>
            <a:off x="1033272" y="3255264"/>
            <a:ext cx="29056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“실제 웹화면이 열리고”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33272" y="3803904"/>
            <a:ext cx="29056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headed 브라우저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14418" y="3017520"/>
            <a:ext cx="3362858" cy="1325880"/>
          </a:xfrm>
          <a:prstGeom prst="roundRect">
            <a:avLst>
              <a:gd name="adj" fmla="val 5517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4670450" y="3255264"/>
            <a:ext cx="29056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“케이스별로 실행”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70450" y="3803904"/>
            <a:ext cx="29056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workers=1 순차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51597" y="3017520"/>
            <a:ext cx="3362858" cy="1325880"/>
          </a:xfrm>
          <a:prstGeom prst="roundRect">
            <a:avLst>
              <a:gd name="adj" fmla="val 5517"/>
            </a:avLst>
          </a:prstGeom>
          <a:solidFill>
            <a:srgbClr val="F5F5F7"/>
          </a:solidFill>
          <a:ln/>
        </p:spPr>
      </p:sp>
      <p:sp>
        <p:nvSpPr>
          <p:cNvPr id="11" name="Text 9"/>
          <p:cNvSpPr/>
          <p:nvPr/>
        </p:nvSpPr>
        <p:spPr>
          <a:xfrm>
            <a:off x="8307629" y="3255264"/>
            <a:ext cx="29056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“결과를 보여주고”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07629" y="3803904"/>
            <a:ext cx="29056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video·trace·리포트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7240" y="4572000"/>
            <a:ext cx="3362858" cy="1325880"/>
          </a:xfrm>
          <a:prstGeom prst="roundRect">
            <a:avLst>
              <a:gd name="adj" fmla="val 5517"/>
            </a:avLst>
          </a:prstGeom>
          <a:solidFill>
            <a:srgbClr val="F5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1033272" y="4809744"/>
            <a:ext cx="29056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“나중에 다 모아서 fix”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33272" y="5358384"/>
            <a:ext cx="29056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수집 후 원인별 수정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414418" y="4572000"/>
            <a:ext cx="3362858" cy="1325880"/>
          </a:xfrm>
          <a:prstGeom prst="roundRect">
            <a:avLst>
              <a:gd name="adj" fmla="val 5517"/>
            </a:avLst>
          </a:prstGeom>
          <a:solidFill>
            <a:srgbClr val="F5F5F7"/>
          </a:solidFill>
          <a:ln/>
        </p:spPr>
      </p:sp>
      <p:sp>
        <p:nvSpPr>
          <p:cNvPr id="17" name="Text 15"/>
          <p:cNvSpPr/>
          <p:nvPr/>
        </p:nvSpPr>
        <p:spPr>
          <a:xfrm>
            <a:off x="4670450" y="4809744"/>
            <a:ext cx="29056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“mutation 가능한 staging”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70450" y="5358384"/>
            <a:ext cx="29056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staging + Preview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51597" y="4572000"/>
            <a:ext cx="3362858" cy="1325880"/>
          </a:xfrm>
          <a:prstGeom prst="roundRect">
            <a:avLst>
              <a:gd name="adj" fmla="val 5517"/>
            </a:avLst>
          </a:prstGeom>
          <a:solidFill>
            <a:srgbClr val="F5F5F7"/>
          </a:solidFill>
          <a:ln/>
        </p:spPr>
      </p:sp>
      <p:sp>
        <p:nvSpPr>
          <p:cNvPr id="20" name="Text 18"/>
          <p:cNvSpPr/>
          <p:nvPr/>
        </p:nvSpPr>
        <p:spPr>
          <a:xfrm>
            <a:off x="8307629" y="4809744"/>
            <a:ext cx="29056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“에러 0까지 반복”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07629" y="5358384"/>
            <a:ext cx="29056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회귀 무결 후 배포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641908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overedge · Playwright Test Process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63721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b="1" spc="-50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여덟 단계가 한 번의 신뢰 가능한 실행을 만든다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3108960"/>
            <a:ext cx="2467280" cy="1188720"/>
          </a:xfrm>
          <a:prstGeom prst="roundRect">
            <a:avLst>
              <a:gd name="adj" fmla="val 6154"/>
            </a:avLst>
          </a:prstGeom>
          <a:solidFill>
            <a:srgbClr val="F5F5F7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" y="3291840"/>
            <a:ext cx="210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6696" y="3675888"/>
            <a:ext cx="2101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범위·동기화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500552" y="3108960"/>
            <a:ext cx="2467280" cy="1188720"/>
          </a:xfrm>
          <a:prstGeom prst="roundRect">
            <a:avLst>
              <a:gd name="adj" fmla="val 6154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3720008" y="3291840"/>
            <a:ext cx="210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720008" y="3675888"/>
            <a:ext cx="2101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staging·preview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23864" y="3108960"/>
            <a:ext cx="2467280" cy="1188720"/>
          </a:xfrm>
          <a:prstGeom prst="roundRect">
            <a:avLst>
              <a:gd name="adj" fmla="val 6154"/>
            </a:avLst>
          </a:prstGeom>
          <a:solidFill>
            <a:srgbClr val="F5F5F7"/>
          </a:solidFill>
          <a:ln/>
        </p:spPr>
      </p:sp>
      <p:sp>
        <p:nvSpPr>
          <p:cNvPr id="11" name="Text 9"/>
          <p:cNvSpPr/>
          <p:nvPr/>
        </p:nvSpPr>
        <p:spPr>
          <a:xfrm>
            <a:off x="6443320" y="3291840"/>
            <a:ext cx="210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43320" y="3675888"/>
            <a:ext cx="2101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접근 보호확인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947175" y="3108960"/>
            <a:ext cx="2467280" cy="1188720"/>
          </a:xfrm>
          <a:prstGeom prst="roundRect">
            <a:avLst>
              <a:gd name="adj" fmla="val 6154"/>
            </a:avLst>
          </a:prstGeom>
          <a:solidFill>
            <a:srgbClr val="F5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9166631" y="3291840"/>
            <a:ext cx="210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66631" y="3675888"/>
            <a:ext cx="2101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스키마·RLS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77240" y="4526280"/>
            <a:ext cx="2467280" cy="1188720"/>
          </a:xfrm>
          <a:prstGeom prst="roundRect">
            <a:avLst>
              <a:gd name="adj" fmla="val 6154"/>
            </a:avLst>
          </a:prstGeom>
          <a:solidFill>
            <a:srgbClr val="F5F5F7"/>
          </a:solidFill>
          <a:ln/>
        </p:spPr>
      </p:sp>
      <p:sp>
        <p:nvSpPr>
          <p:cNvPr id="17" name="Text 15"/>
          <p:cNvSpPr/>
          <p:nvPr/>
        </p:nvSpPr>
        <p:spPr>
          <a:xfrm>
            <a:off x="996696" y="4709160"/>
            <a:ext cx="210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96696" y="5093208"/>
            <a:ext cx="2101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spec·config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500552" y="4526280"/>
            <a:ext cx="2467280" cy="1188720"/>
          </a:xfrm>
          <a:prstGeom prst="roundRect">
            <a:avLst>
              <a:gd name="adj" fmla="val 6154"/>
            </a:avLst>
          </a:prstGeom>
          <a:solidFill>
            <a:srgbClr val="F5F5F7"/>
          </a:solidFill>
          <a:ln/>
        </p:spPr>
      </p:sp>
      <p:sp>
        <p:nvSpPr>
          <p:cNvPr id="20" name="Text 18"/>
          <p:cNvSpPr/>
          <p:nvPr/>
        </p:nvSpPr>
        <p:spPr>
          <a:xfrm>
            <a:off x="3720008" y="4709160"/>
            <a:ext cx="210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720008" y="5093208"/>
            <a:ext cx="2101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headed·2뷰포트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223864" y="4526280"/>
            <a:ext cx="2467280" cy="1188720"/>
          </a:xfrm>
          <a:prstGeom prst="roundRect">
            <a:avLst>
              <a:gd name="adj" fmla="val 6154"/>
            </a:avLst>
          </a:prstGeom>
          <a:solidFill>
            <a:srgbClr val="F5F5F7"/>
          </a:solidFill>
          <a:ln/>
        </p:spPr>
      </p:sp>
      <p:sp>
        <p:nvSpPr>
          <p:cNvPr id="23" name="Text 21"/>
          <p:cNvSpPr/>
          <p:nvPr/>
        </p:nvSpPr>
        <p:spPr>
          <a:xfrm>
            <a:off x="6443320" y="4709160"/>
            <a:ext cx="210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43320" y="5093208"/>
            <a:ext cx="2101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 write검증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947175" y="4526280"/>
            <a:ext cx="2467280" cy="1188720"/>
          </a:xfrm>
          <a:prstGeom prst="roundRect">
            <a:avLst>
              <a:gd name="adj" fmla="val 6154"/>
            </a:avLst>
          </a:prstGeom>
          <a:solidFill>
            <a:srgbClr val="F5F5F7"/>
          </a:solidFill>
          <a:ln/>
        </p:spPr>
      </p:sp>
      <p:sp>
        <p:nvSpPr>
          <p:cNvPr id="26" name="Text 24"/>
          <p:cNvSpPr/>
          <p:nvPr/>
        </p:nvSpPr>
        <p:spPr>
          <a:xfrm>
            <a:off x="9166631" y="4709160"/>
            <a:ext cx="210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66631" y="5093208"/>
            <a:ext cx="2101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수집→수정→배포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77240" y="641908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overedge · Playwright Test Process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7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9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63721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mutation은 네 개의 경계 안에서만 허용했다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77240" y="3429000"/>
            <a:ext cx="2453564" cy="1737360"/>
          </a:xfrm>
          <a:prstGeom prst="roundRect">
            <a:avLst>
              <a:gd name="adj" fmla="val 4211"/>
            </a:avLst>
          </a:prstGeom>
          <a:solidFill>
            <a:srgbClr val="2A2A2C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3666744"/>
            <a:ext cx="19963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4087368"/>
            <a:ext cx="19963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4636008"/>
            <a:ext cx="19963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headed · workers=1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05124" y="3429000"/>
            <a:ext cx="2453564" cy="1737360"/>
          </a:xfrm>
          <a:prstGeom prst="roundRect">
            <a:avLst>
              <a:gd name="adj" fmla="val 4211"/>
            </a:avLst>
          </a:prstGeom>
          <a:solidFill>
            <a:srgbClr val="2A2A2C"/>
          </a:solidFill>
          <a:ln/>
        </p:spPr>
      </p:sp>
      <p:sp>
        <p:nvSpPr>
          <p:cNvPr id="9" name="Text 7"/>
          <p:cNvSpPr/>
          <p:nvPr/>
        </p:nvSpPr>
        <p:spPr>
          <a:xfrm>
            <a:off x="3733724" y="3666744"/>
            <a:ext cx="19963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33724" y="4087368"/>
            <a:ext cx="19963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Preview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33724" y="4636008"/>
            <a:ext cx="19963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운영과 별도 배포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33008" y="3429000"/>
            <a:ext cx="2453564" cy="1737360"/>
          </a:xfrm>
          <a:prstGeom prst="roundRect">
            <a:avLst>
              <a:gd name="adj" fmla="val 4211"/>
            </a:avLst>
          </a:prstGeom>
          <a:solidFill>
            <a:srgbClr val="2A2A2C"/>
          </a:solidFill>
          <a:ln/>
        </p:spPr>
      </p:sp>
      <p:sp>
        <p:nvSpPr>
          <p:cNvPr id="13" name="Text 11"/>
          <p:cNvSpPr/>
          <p:nvPr/>
        </p:nvSpPr>
        <p:spPr>
          <a:xfrm>
            <a:off x="6461608" y="3666744"/>
            <a:ext cx="19963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61608" y="4087368"/>
            <a:ext cx="19963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staging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61608" y="4636008"/>
            <a:ext cx="19963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분리된 DB·RLS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60891" y="3429000"/>
            <a:ext cx="2453564" cy="1737360"/>
          </a:xfrm>
          <a:prstGeom prst="roundRect">
            <a:avLst>
              <a:gd name="adj" fmla="val 4211"/>
            </a:avLst>
          </a:prstGeom>
          <a:solidFill>
            <a:srgbClr val="2A2A2C"/>
          </a:solidFill>
          <a:ln/>
        </p:spPr>
      </p:sp>
      <p:sp>
        <p:nvSpPr>
          <p:cNvPr id="17" name="Text 15"/>
          <p:cNvSpPr/>
          <p:nvPr/>
        </p:nvSpPr>
        <p:spPr>
          <a:xfrm>
            <a:off x="9189491" y="3666744"/>
            <a:ext cx="19963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89491" y="4087368"/>
            <a:ext cx="19963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testIgnore 가드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89491" y="4636008"/>
            <a:ext cx="19963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prod에서 mutation 차단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641908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overedge · Playwright Test Process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63721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b="1" spc="-50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보이게 실행하되 제품은 고치지 않았다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3063240"/>
            <a:ext cx="5227168" cy="1325880"/>
          </a:xfrm>
          <a:prstGeom prst="roundRect">
            <a:avLst>
              <a:gd name="adj" fmla="val 5517"/>
            </a:avLst>
          </a:prstGeom>
          <a:solidFill>
            <a:srgbClr val="F5F5F7"/>
          </a:solidFill>
          <a:ln/>
        </p:spPr>
      </p:sp>
      <p:sp>
        <p:nvSpPr>
          <p:cNvPr id="5" name="Text 3"/>
          <p:cNvSpPr/>
          <p:nvPr/>
        </p:nvSpPr>
        <p:spPr>
          <a:xfrm>
            <a:off x="1069848" y="3300984"/>
            <a:ext cx="467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69848" y="3794760"/>
            <a:ext cx="467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화면 관찰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87288" y="3063240"/>
            <a:ext cx="5227168" cy="1325880"/>
          </a:xfrm>
          <a:prstGeom prst="roundRect">
            <a:avLst>
              <a:gd name="adj" fmla="val 5517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6479896" y="3300984"/>
            <a:ext cx="467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worker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79896" y="3794760"/>
            <a:ext cx="467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케이스 순서·데이터 충돌 제어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" y="4617720"/>
            <a:ext cx="5227168" cy="1325880"/>
          </a:xfrm>
          <a:prstGeom prst="roundRect">
            <a:avLst>
              <a:gd name="adj" fmla="val 5517"/>
            </a:avLst>
          </a:prstGeom>
          <a:solidFill>
            <a:srgbClr val="F5F5F7"/>
          </a:solidFill>
          <a:ln/>
        </p:spPr>
      </p:sp>
      <p:sp>
        <p:nvSpPr>
          <p:cNvPr id="11" name="Text 9"/>
          <p:cNvSpPr/>
          <p:nvPr/>
        </p:nvSpPr>
        <p:spPr>
          <a:xfrm>
            <a:off x="1069848" y="4855464"/>
            <a:ext cx="467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desktop+mobile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69848" y="5349240"/>
            <a:ext cx="467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뷰포트 자동 커버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87288" y="4617720"/>
            <a:ext cx="5227168" cy="1325880"/>
          </a:xfrm>
          <a:prstGeom prst="roundRect">
            <a:avLst>
              <a:gd name="adj" fmla="val 5517"/>
            </a:avLst>
          </a:prstGeom>
          <a:solidFill>
            <a:srgbClr val="F5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6479896" y="4855464"/>
            <a:ext cx="467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 고친 것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79896" y="5349240"/>
            <a:ext cx="467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selector·정규식·인덱스(테스트 결함만)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641908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overedge · Playwright Test Process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9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RUN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63721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55개 케이스, 전부 통과 — 앱 결함 0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3200400"/>
            <a:ext cx="245356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4434840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케이스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505124" y="3200400"/>
            <a:ext cx="245356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-100" kern="0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505124" y="4434840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33008" y="3200400"/>
            <a:ext cx="245356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-100" kern="0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6233008" y="4434840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결함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0891" y="3200400"/>
            <a:ext cx="245356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-100" kern="0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8960891" y="4434840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콘솔 에러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5212080"/>
            <a:ext cx="106372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28(desktop+mobile) · 단위(Vitest) 27 · next build 성공 · 스테이징 mutation 3건은 Supabase 키 확보 후 실행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641908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overedge · Playwright Test Process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FOUND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63721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b="1" spc="-50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발견된 실패는 전부 “테스트 결함”이었다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106372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 회귀 0건. 아래 5건은 Playwright 셀렉터 문제 — assertion 약화·skip 없이 교정.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3383280"/>
            <a:ext cx="5227168" cy="1051560"/>
          </a:xfrm>
          <a:prstGeom prst="roundRect">
            <a:avLst>
              <a:gd name="adj" fmla="val 6957"/>
            </a:avLst>
          </a:prstGeom>
          <a:solidFill>
            <a:srgbClr val="F5F5F7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T-1·T-2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3931920"/>
            <a:ext cx="467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위반·중복 매칭 → exact:true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87288" y="3383280"/>
            <a:ext cx="5227168" cy="1051560"/>
          </a:xfrm>
          <a:prstGeom prst="roundRect">
            <a:avLst>
              <a:gd name="adj" fmla="val 6957"/>
            </a:avLst>
          </a:prstGeom>
          <a:solidFill>
            <a:srgbClr val="F5F5F7"/>
          </a:solidFill>
          <a:ln/>
        </p:spPr>
      </p:sp>
      <p:sp>
        <p:nvSpPr>
          <p:cNvPr id="9" name="Text 7"/>
          <p:cNvSpPr/>
          <p:nvPr/>
        </p:nvSpPr>
        <p:spPr>
          <a:xfrm>
            <a:off x="6461608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61608" y="3931920"/>
            <a:ext cx="467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‘+₩’ 미매칭 → 실제 라벨 ‘원’ 정규식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4617720"/>
            <a:ext cx="5227168" cy="1051560"/>
          </a:xfrm>
          <a:prstGeom prst="roundRect">
            <a:avLst>
              <a:gd name="adj" fmla="val 6957"/>
            </a:avLst>
          </a:prstGeom>
          <a:solidFill>
            <a:srgbClr val="F5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800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5166360"/>
            <a:ext cx="467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input 인덱스 밀림 → nth(2)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87288" y="4617720"/>
            <a:ext cx="5227168" cy="1051560"/>
          </a:xfrm>
          <a:prstGeom prst="roundRect">
            <a:avLst>
              <a:gd name="adj" fmla="val 6957"/>
            </a:avLst>
          </a:prstGeom>
          <a:solidFill>
            <a:srgbClr val="F5F5F7"/>
          </a:solidFill>
          <a:ln/>
        </p:spPr>
      </p:sp>
      <p:sp>
        <p:nvSpPr>
          <p:cNvPr id="15" name="Text 13"/>
          <p:cNvSpPr/>
          <p:nvPr/>
        </p:nvSpPr>
        <p:spPr>
          <a:xfrm>
            <a:off x="6461608" y="4800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61608" y="5166360"/>
            <a:ext cx="467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‘농가 직거래’ div → 텍스트 로케이터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641908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overedge · Playwright Test Process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63721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b="1" spc="-50" kern="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실패는 네 종류로 나눠야 다음 행동이 정확해진다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77240" y="3200400"/>
            <a:ext cx="2453564" cy="2103120"/>
          </a:xfrm>
          <a:prstGeom prst="roundRect">
            <a:avLst>
              <a:gd name="adj" fmla="val 3478"/>
            </a:avLst>
          </a:prstGeom>
          <a:solidFill>
            <a:srgbClr val="F5F5F7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" y="3456432"/>
            <a:ext cx="204208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 회귀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96696" y="4160520"/>
            <a:ext cx="204208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증거 보존 → backlog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96696" y="4846320"/>
            <a:ext cx="20420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7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0건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505124" y="3200400"/>
            <a:ext cx="2453564" cy="2103120"/>
          </a:xfrm>
          <a:prstGeom prst="roundRect">
            <a:avLst>
              <a:gd name="adj" fmla="val 3478"/>
            </a:avLst>
          </a:prstGeom>
          <a:solidFill>
            <a:srgbClr val="F5F5F7"/>
          </a:solidFill>
          <a:ln/>
        </p:spPr>
      </p:sp>
      <p:sp>
        <p:nvSpPr>
          <p:cNvPr id="9" name="Text 7"/>
          <p:cNvSpPr/>
          <p:nvPr/>
        </p:nvSpPr>
        <p:spPr>
          <a:xfrm>
            <a:off x="3724580" y="3456432"/>
            <a:ext cx="204208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알려진 공백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724580" y="4160520"/>
            <a:ext cx="204208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xfail로 추적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724580" y="4846320"/>
            <a:ext cx="20420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7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0건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33008" y="3200400"/>
            <a:ext cx="2453564" cy="2103120"/>
          </a:xfrm>
          <a:prstGeom prst="roundRect">
            <a:avLst>
              <a:gd name="adj" fmla="val 3478"/>
            </a:avLst>
          </a:prstGeom>
          <a:solidFill>
            <a:srgbClr val="F5F5F7"/>
          </a:solidFill>
          <a:ln/>
        </p:spPr>
      </p:sp>
      <p:sp>
        <p:nvSpPr>
          <p:cNvPr id="13" name="Text 11"/>
          <p:cNvSpPr/>
          <p:nvPr/>
        </p:nvSpPr>
        <p:spPr>
          <a:xfrm>
            <a:off x="6452464" y="3456432"/>
            <a:ext cx="204208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결함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52464" y="4160520"/>
            <a:ext cx="204208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selector·wait 교정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52464" y="4846320"/>
            <a:ext cx="20420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5건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960891" y="3200400"/>
            <a:ext cx="2453564" cy="2103120"/>
          </a:xfrm>
          <a:prstGeom prst="roundRect">
            <a:avLst>
              <a:gd name="adj" fmla="val 3478"/>
            </a:avLst>
          </a:prstGeom>
          <a:solidFill>
            <a:srgbClr val="F5F5F7"/>
          </a:solidFill>
          <a:ln/>
        </p:spPr>
      </p:sp>
      <p:sp>
        <p:nvSpPr>
          <p:cNvPr id="17" name="Text 15"/>
          <p:cNvSpPr/>
          <p:nvPr/>
        </p:nvSpPr>
        <p:spPr>
          <a:xfrm>
            <a:off x="9180347" y="3456432"/>
            <a:ext cx="204208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장애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180347" y="4160520"/>
            <a:ext cx="204208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재실행·구성 수정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80347" y="4846320"/>
            <a:ext cx="20420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7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0건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" y="641908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overedge · Playwright Test Process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0584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9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PLAYBOOK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371600"/>
            <a:ext cx="10637215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Stage. Show.</a:t>
            </a:r>
            <a:endParaRPr lang="en-US" sz="6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0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Classify. Fix.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77240" y="3794760"/>
            <a:ext cx="24535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4251960"/>
            <a:ext cx="24535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안전한 환경을 만든다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505124" y="3794760"/>
            <a:ext cx="24535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505124" y="4251960"/>
            <a:ext cx="24535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화면을 보며 실행한다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33008" y="3794760"/>
            <a:ext cx="24535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233008" y="4251960"/>
            <a:ext cx="24535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실패를 구분해 모은다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0891" y="3794760"/>
            <a:ext cx="24535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960891" y="4251960"/>
            <a:ext cx="24535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원인별로 고친다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5120640"/>
            <a:ext cx="24535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777240" y="5779008"/>
            <a:ext cx="24535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누락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05124" y="5120640"/>
            <a:ext cx="24535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505124" y="5779008"/>
            <a:ext cx="24535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노출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33008" y="5120640"/>
            <a:ext cx="24535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233008" y="5779008"/>
            <a:ext cx="24535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잔여 데이터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60891" y="5120640"/>
            <a:ext cx="24535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8960891" y="5779008"/>
            <a:ext cx="24535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혼합 판정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641908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overedge · agri2026 시세마당 · Claude Code QA 자동화 교육자료 v1.0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2026-07-24T02:59:35Z</dcterms:created>
  <dcterms:modified xsi:type="dcterms:W3CDTF">2026-07-24T02:59:35Z</dcterms:modified>
</cp:coreProperties>
</file>